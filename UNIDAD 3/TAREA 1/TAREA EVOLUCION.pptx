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62" autoAdjust="0"/>
  </p:normalViewPr>
  <p:slideViewPr>
    <p:cSldViewPr snapToGrid="0">
      <p:cViewPr varScale="1">
        <p:scale>
          <a:sx n="103" d="100"/>
          <a:sy n="103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EB656-A05D-D25A-84DE-2241DEE30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3D62FF-DD16-74C4-7C72-DCDA0F898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708ABA-30CE-8682-65F9-619EB22BC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E281-C40A-4A8D-B9E0-106EB5D8523E}" type="datetimeFigureOut">
              <a:rPr lang="es-MX" smtClean="0"/>
              <a:t>05/04/2025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FD1F34-82CF-071B-66E4-D959A0ED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F7C48A-C531-4DFE-FDE3-0F354A17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E3C8-2BFB-41F1-A920-AB9162F3FA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5817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066EC-A1B8-7B5A-8DDF-51BCB7DF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820421-ABCF-87FA-49CD-FCDAB1B98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E6FF6D-76C0-8D82-BFB6-D9111550C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E281-C40A-4A8D-B9E0-106EB5D8523E}" type="datetimeFigureOut">
              <a:rPr lang="es-MX" smtClean="0"/>
              <a:t>05/04/2025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DD8C31-B49E-45F3-B189-F06185127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8C4306-426D-545E-33F9-EFBF21377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E3C8-2BFB-41F1-A920-AB9162F3FA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9376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0EFC3F-B891-8859-8FC3-D763DE6F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7DFDDF-63DB-C6B6-9F5A-3E118F03A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BA344B-0645-646D-E035-7231DCBE9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E281-C40A-4A8D-B9E0-106EB5D8523E}" type="datetimeFigureOut">
              <a:rPr lang="es-MX" smtClean="0"/>
              <a:t>05/04/2025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2E98E3-E6F9-C1EC-1E5E-470826693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1B48AF-FEA7-3DE2-AA02-F773EDAD4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E3C8-2BFB-41F1-A920-AB9162F3FA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894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2621F-852D-6068-444D-85A465BD1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D5A68C-3B2D-5733-1E76-E2800B940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67BE77-D29B-8FC7-7E51-AA5625273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CFD9F4-41BF-E489-C813-051F1C05F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E281-C40A-4A8D-B9E0-106EB5D8523E}" type="datetimeFigureOut">
              <a:rPr lang="es-MX" smtClean="0"/>
              <a:t>05/04/2025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BEF369-4A18-0C99-0DF2-45CD5AA7C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26182F-20FE-41D3-9B0A-12C9B6D48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E3C8-2BFB-41F1-A920-AB9162F3FA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3751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2E70A7-AC43-4652-F6BD-21428CC6B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95F63E-4BA8-F79D-711F-D9ACB6970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A529C9-F6EF-8B77-7CCA-BEBACBE84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ACA7F36-97B9-02CC-5855-25BA3EB5B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B6F7975-C5E4-EB96-7518-5C1CBA2AD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1FD48C6-45F9-4A46-1258-FABB8704E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E281-C40A-4A8D-B9E0-106EB5D8523E}" type="datetimeFigureOut">
              <a:rPr lang="es-MX" smtClean="0"/>
              <a:t>05/04/2025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59E04C-90F1-0EAB-73E0-DED9DBED6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EEFE9D-FB08-3AC6-777C-3288B634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E3C8-2BFB-41F1-A920-AB9162F3FA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343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D349D-353A-6553-396B-B5A157A0B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7359B14-891D-B7F1-EE89-FEF57C110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E281-C40A-4A8D-B9E0-106EB5D8523E}" type="datetimeFigureOut">
              <a:rPr lang="es-MX" smtClean="0"/>
              <a:t>05/04/2025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58A824D-C1FC-9071-FEE5-7260D791B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58BD2A5-8624-34DD-CE24-6437E3568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E3C8-2BFB-41F1-A920-AB9162F3FA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0737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98A66FE-97AD-3813-BCC9-7154B3341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E281-C40A-4A8D-B9E0-106EB5D8523E}" type="datetimeFigureOut">
              <a:rPr lang="es-MX" smtClean="0"/>
              <a:t>05/04/2025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20F1DD8-114C-E414-D591-3BE03F0C4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6FC5C3-E27F-1D2F-1324-99B7C093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E3C8-2BFB-41F1-A920-AB9162F3FA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6133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D7777-337B-C7B8-FCAF-3241AA2FE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CC8224-BABD-8A52-67DB-02DCFF169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EE1DF2-C5B9-F31E-247C-EC9CF7920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349603-70B0-F7E4-087E-7D1D85F5A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E281-C40A-4A8D-B9E0-106EB5D8523E}" type="datetimeFigureOut">
              <a:rPr lang="es-MX" smtClean="0"/>
              <a:t>05/04/2025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58C2C8-5AB0-299D-94BA-E8A69C1F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944D01-950C-F0D6-EACF-6F916DB01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E3C8-2BFB-41F1-A920-AB9162F3FA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78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7E07B-7E15-83FA-9D10-BD99AFD24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21D3B2B-F840-6437-212A-5B9867B8F6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5BADCA-339E-A940-05CE-9F6F82C19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554CA9-754A-FDF8-F70B-1AD667726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E281-C40A-4A8D-B9E0-106EB5D8523E}" type="datetimeFigureOut">
              <a:rPr lang="es-MX" smtClean="0"/>
              <a:t>05/04/2025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82E95F-03BC-C959-7226-61CF28106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A0C808-1286-6ED7-1ABD-AFFE8DCC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E3C8-2BFB-41F1-A920-AB9162F3FA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755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DB99B-F89E-F217-0A0F-20EF3E040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5816DD-2BD6-9913-83E7-4DF99F47E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5DFCE0-9B93-14EA-932F-663F7A9B0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E281-C40A-4A8D-B9E0-106EB5D8523E}" type="datetimeFigureOut">
              <a:rPr lang="es-MX" smtClean="0"/>
              <a:t>05/04/2025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DB485C-729C-5847-D98B-8A9E03688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76EB34-BE91-8499-2B7A-D97E5193E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E3C8-2BFB-41F1-A920-AB9162F3FA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8892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4714932-12A2-2A76-147E-CE3C4AC1D1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33DBB93-C3DB-50A0-50DC-52BA4CD60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B1BA5F-839B-AC58-3F78-80EEE5DBB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E281-C40A-4A8D-B9E0-106EB5D8523E}" type="datetimeFigureOut">
              <a:rPr lang="es-MX" smtClean="0"/>
              <a:t>05/04/2025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3CE30A-1729-6646-19C3-DA07DD949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577217-EE12-29AA-CC28-72968FB4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E3C8-2BFB-41F1-A920-AB9162F3FA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283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4DB2A81-C168-6B2F-3F0A-A34AC324B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5B80DF-012A-7E39-3FC6-52317A83B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F4E306-5EDE-F7BF-9CFE-5A57BE85EA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7AE281-C40A-4A8D-B9E0-106EB5D8523E}" type="datetimeFigureOut">
              <a:rPr lang="es-MX" smtClean="0"/>
              <a:t>05/04/2025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30E7FE-E614-BB0E-601D-60EBCAB81D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B616E8-8B45-A50D-A0DA-158666D0C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5E3C8-2BFB-41F1-A920-AB9162F3FA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5410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0FA70D4E-2948-55BC-4EAF-F868979B67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667"/>
          <a:stretch/>
        </p:blipFill>
        <p:spPr>
          <a:xfrm>
            <a:off x="9144000" y="0"/>
            <a:ext cx="5486400" cy="6858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630E3007-2E10-FC56-10C6-4CA67FBB25D9}"/>
              </a:ext>
            </a:extLst>
          </p:cNvPr>
          <p:cNvSpPr/>
          <p:nvPr/>
        </p:nvSpPr>
        <p:spPr>
          <a:xfrm>
            <a:off x="510986" y="3104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Evolución Diferencial en Inteligencia Artificial</a:t>
            </a:r>
            <a:endParaRPr lang="en-US" sz="44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EB9E93D-6DC3-EC31-557A-68803A4DA777}"/>
              </a:ext>
            </a:extLst>
          </p:cNvPr>
          <p:cNvSpPr/>
          <p:nvPr/>
        </p:nvSpPr>
        <p:spPr>
          <a:xfrm>
            <a:off x="510986" y="188910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Exploraremos la evolución diferencial, un algoritmo de optimización clave en IA. Este método ajusta modelos y entrena redes neuronales. Descubre cómo mejora los parámetros en el aprendizaje automático.</a:t>
            </a:r>
            <a:endParaRPr lang="en-US" sz="175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46A46566-69F4-9041-681F-162E07D86B06}"/>
              </a:ext>
            </a:extLst>
          </p:cNvPr>
          <p:cNvSpPr/>
          <p:nvPr/>
        </p:nvSpPr>
        <p:spPr>
          <a:xfrm>
            <a:off x="510986" y="3665781"/>
            <a:ext cx="7280910" cy="577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¿Qué es la Evolución Diferencial?</a:t>
            </a:r>
            <a:endParaRPr lang="en-US" sz="36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6DDAE4D3-7B3E-10D5-8EB0-99A264A3716F}"/>
              </a:ext>
            </a:extLst>
          </p:cNvPr>
          <p:cNvSpPr/>
          <p:nvPr/>
        </p:nvSpPr>
        <p:spPr>
          <a:xfrm>
            <a:off x="510986" y="4686027"/>
            <a:ext cx="6443543" cy="886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 un algoritmo evolutivo para optimizar soluciones complejas. Se enfoca en encontrar la mejor solución posible. Ajusta modelos y entrena redes neuronales en IA.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4273961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>
            <a:extLst>
              <a:ext uri="{FF2B5EF4-FFF2-40B4-BE49-F238E27FC236}">
                <a16:creationId xmlns:a16="http://schemas.microsoft.com/office/drawing/2014/main" id="{3DA1DC70-76E9-5BB9-2E6B-3C11B90A70BB}"/>
              </a:ext>
            </a:extLst>
          </p:cNvPr>
          <p:cNvSpPr/>
          <p:nvPr/>
        </p:nvSpPr>
        <p:spPr>
          <a:xfrm>
            <a:off x="360158" y="-5119"/>
            <a:ext cx="845129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Proceso de Evolución Diferencial</a:t>
            </a:r>
            <a:endParaRPr lang="en-US" sz="4200" dirty="0"/>
          </a:p>
        </p:txBody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3F3B636C-5D79-11C8-DCFD-AABD5B027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58" y="1099185"/>
            <a:ext cx="1077397" cy="1292900"/>
          </a:xfrm>
          <a:prstGeom prst="rect">
            <a:avLst/>
          </a:prstGeom>
        </p:spPr>
      </p:pic>
      <p:sp>
        <p:nvSpPr>
          <p:cNvPr id="35" name="Text 1">
            <a:extLst>
              <a:ext uri="{FF2B5EF4-FFF2-40B4-BE49-F238E27FC236}">
                <a16:creationId xmlns:a16="http://schemas.microsoft.com/office/drawing/2014/main" id="{64B635EF-AC4D-2BB6-8372-2461129F2E00}"/>
              </a:ext>
            </a:extLst>
          </p:cNvPr>
          <p:cNvSpPr/>
          <p:nvPr/>
        </p:nvSpPr>
        <p:spPr>
          <a:xfrm>
            <a:off x="1760690" y="131456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Inicialización</a:t>
            </a:r>
            <a:endParaRPr lang="en-US" sz="2100" dirty="0"/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5A973694-2C47-8BCC-99EB-A26AB9F7C97B}"/>
              </a:ext>
            </a:extLst>
          </p:cNvPr>
          <p:cNvSpPr/>
          <p:nvPr/>
        </p:nvSpPr>
        <p:spPr>
          <a:xfrm>
            <a:off x="1760690" y="1780342"/>
            <a:ext cx="116422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 una población inicial con soluciones aleatorias.</a:t>
            </a:r>
            <a:endParaRPr lang="en-US" sz="1650" dirty="0"/>
          </a:p>
        </p:txBody>
      </p:sp>
      <p:pic>
        <p:nvPicPr>
          <p:cNvPr id="37" name="Image 1" descr="preencoded.png">
            <a:extLst>
              <a:ext uri="{FF2B5EF4-FFF2-40B4-BE49-F238E27FC236}">
                <a16:creationId xmlns:a16="http://schemas.microsoft.com/office/drawing/2014/main" id="{0767FC0F-7D02-AC56-5FD2-B3683EA2F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58" y="2392085"/>
            <a:ext cx="1077397" cy="1292900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492CE5A7-27C2-2321-095A-23FB218F8287}"/>
              </a:ext>
            </a:extLst>
          </p:cNvPr>
          <p:cNvSpPr/>
          <p:nvPr/>
        </p:nvSpPr>
        <p:spPr>
          <a:xfrm>
            <a:off x="1760690" y="260746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Mutación</a:t>
            </a:r>
            <a:endParaRPr lang="en-US" sz="21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788D0E13-E13B-3B85-74E3-34DDDE34A862}"/>
              </a:ext>
            </a:extLst>
          </p:cNvPr>
          <p:cNvSpPr/>
          <p:nvPr/>
        </p:nvSpPr>
        <p:spPr>
          <a:xfrm>
            <a:off x="1760690" y="3073242"/>
            <a:ext cx="7578532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Combina soluciones distintas para crear una nueva solución.</a:t>
            </a:r>
            <a:endParaRPr lang="en-US" sz="1650" dirty="0"/>
          </a:p>
        </p:txBody>
      </p:sp>
      <p:pic>
        <p:nvPicPr>
          <p:cNvPr id="40" name="Image 2" descr="preencoded.png">
            <a:extLst>
              <a:ext uri="{FF2B5EF4-FFF2-40B4-BE49-F238E27FC236}">
                <a16:creationId xmlns:a16="http://schemas.microsoft.com/office/drawing/2014/main" id="{CE2075A9-41D2-F7B1-38C3-C68A52012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58" y="3684985"/>
            <a:ext cx="1077397" cy="1292900"/>
          </a:xfrm>
          <a:prstGeom prst="rect">
            <a:avLst/>
          </a:prstGeom>
        </p:spPr>
      </p:pic>
      <p:sp>
        <p:nvSpPr>
          <p:cNvPr id="41" name="Text 5">
            <a:extLst>
              <a:ext uri="{FF2B5EF4-FFF2-40B4-BE49-F238E27FC236}">
                <a16:creationId xmlns:a16="http://schemas.microsoft.com/office/drawing/2014/main" id="{6A75B072-6FFC-A4FA-234F-70761A5D5D7C}"/>
              </a:ext>
            </a:extLst>
          </p:cNvPr>
          <p:cNvSpPr/>
          <p:nvPr/>
        </p:nvSpPr>
        <p:spPr>
          <a:xfrm>
            <a:off x="1760690" y="390036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Cruce</a:t>
            </a:r>
            <a:endParaRPr lang="en-US" sz="210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B11C2AD3-EFA4-5175-AAA2-EDB961D2945E}"/>
              </a:ext>
            </a:extLst>
          </p:cNvPr>
          <p:cNvSpPr/>
          <p:nvPr/>
        </p:nvSpPr>
        <p:spPr>
          <a:xfrm>
            <a:off x="1760690" y="4366141"/>
            <a:ext cx="116422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Mezcla la solución mutada con la original para generar una solución de prueba.</a:t>
            </a:r>
            <a:endParaRPr lang="en-US" sz="1650" dirty="0"/>
          </a:p>
        </p:txBody>
      </p:sp>
      <p:pic>
        <p:nvPicPr>
          <p:cNvPr id="43" name="Image 3" descr="preencoded.png">
            <a:extLst>
              <a:ext uri="{FF2B5EF4-FFF2-40B4-BE49-F238E27FC236}">
                <a16:creationId xmlns:a16="http://schemas.microsoft.com/office/drawing/2014/main" id="{295345E6-117B-33E2-01FC-C15A66EB86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158" y="4977884"/>
            <a:ext cx="1077397" cy="1292900"/>
          </a:xfrm>
          <a:prstGeom prst="rect">
            <a:avLst/>
          </a:prstGeom>
        </p:spPr>
      </p:pic>
      <p:sp>
        <p:nvSpPr>
          <p:cNvPr id="44" name="Text 7">
            <a:extLst>
              <a:ext uri="{FF2B5EF4-FFF2-40B4-BE49-F238E27FC236}">
                <a16:creationId xmlns:a16="http://schemas.microsoft.com/office/drawing/2014/main" id="{9117AF29-2B45-2942-8B11-EAB785F9731D}"/>
              </a:ext>
            </a:extLst>
          </p:cNvPr>
          <p:cNvSpPr/>
          <p:nvPr/>
        </p:nvSpPr>
        <p:spPr>
          <a:xfrm>
            <a:off x="1760690" y="519326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Selección</a:t>
            </a:r>
            <a:endParaRPr lang="en-US" sz="21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D66C3E18-528F-8811-B832-4A07FCAC5FA0}"/>
              </a:ext>
            </a:extLst>
          </p:cNvPr>
          <p:cNvSpPr/>
          <p:nvPr/>
        </p:nvSpPr>
        <p:spPr>
          <a:xfrm>
            <a:off x="1760690" y="5659041"/>
            <a:ext cx="116422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Evalúa ambas soluciones y se conserva la mejor de ellas.</a:t>
            </a:r>
            <a:endParaRPr lang="en-US" sz="1650" dirty="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FE4F2300-FB4A-4755-0B7B-FDA40DB397B8}"/>
              </a:ext>
            </a:extLst>
          </p:cNvPr>
          <p:cNvSpPr/>
          <p:nvPr/>
        </p:nvSpPr>
        <p:spPr>
          <a:xfrm>
            <a:off x="360158" y="6513195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Este ciclo se repite hasta encontrar la mejor solución.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3086076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E6DE331F-7BD2-8D64-F0BA-FBB9B5643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48"/>
            <a:ext cx="12192000" cy="2835235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C51FF636-D95E-E85C-DEB0-C580E8C25B5A}"/>
              </a:ext>
            </a:extLst>
          </p:cNvPr>
          <p:cNvSpPr/>
          <p:nvPr/>
        </p:nvSpPr>
        <p:spPr>
          <a:xfrm>
            <a:off x="595827" y="3157040"/>
            <a:ext cx="4796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Fórmula de Mutación</a:t>
            </a:r>
            <a:endParaRPr lang="en-US" sz="44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3C4C69B-74A4-4A54-FBE0-F8D234801627}"/>
              </a:ext>
            </a:extLst>
          </p:cNvPr>
          <p:cNvSpPr/>
          <p:nvPr/>
        </p:nvSpPr>
        <p:spPr>
          <a:xfrm>
            <a:off x="935988" y="4461132"/>
            <a:ext cx="105855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nueva = base + F x (solución1 - solución2)</a:t>
            </a:r>
            <a:endParaRPr lang="en-US" sz="17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0B51A2C8-3A3F-02CA-9932-91A1496E8D87}"/>
              </a:ext>
            </a:extLst>
          </p:cNvPr>
          <p:cNvSpPr/>
          <p:nvPr/>
        </p:nvSpPr>
        <p:spPr>
          <a:xfrm>
            <a:off x="595826" y="4205981"/>
            <a:ext cx="45719" cy="873204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642A2BE-CF99-A2E7-F3B9-EE493F74632E}"/>
              </a:ext>
            </a:extLst>
          </p:cNvPr>
          <p:cNvSpPr/>
          <p:nvPr/>
        </p:nvSpPr>
        <p:spPr>
          <a:xfrm>
            <a:off x="595828" y="5334336"/>
            <a:ext cx="1086901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 mutación es un paso crucial. Combina tres soluciones distintas para innovar. El factor F controla la magnitud del cambio.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209350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2DC34F0-9BCD-E299-FBB5-79B6116A50AD}"/>
              </a:ext>
            </a:extLst>
          </p:cNvPr>
          <p:cNvSpPr/>
          <p:nvPr/>
        </p:nvSpPr>
        <p:spPr>
          <a:xfrm>
            <a:off x="275316" y="1422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Componentes Clave</a:t>
            </a:r>
            <a:endParaRPr lang="en-US" sz="44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11FDC49-02C3-F7A4-4A78-AD838F064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16" y="1344353"/>
            <a:ext cx="566976" cy="566976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DEFC2102-F247-26D8-F931-3F1A712F2709}"/>
              </a:ext>
            </a:extLst>
          </p:cNvPr>
          <p:cNvSpPr/>
          <p:nvPr/>
        </p:nvSpPr>
        <p:spPr>
          <a:xfrm>
            <a:off x="1069105" y="1304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Población</a:t>
            </a:r>
            <a:endParaRPr lang="en-US" sz="22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D6635B98-418D-14F8-3518-05298786B9C9}"/>
              </a:ext>
            </a:extLst>
          </p:cNvPr>
          <p:cNvSpPr/>
          <p:nvPr/>
        </p:nvSpPr>
        <p:spPr>
          <a:xfrm>
            <a:off x="1069105" y="1795123"/>
            <a:ext cx="122490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Grupo de posibles soluciones.</a:t>
            </a:r>
            <a:endParaRPr lang="en-US" sz="17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6264442D-02F5-FBBF-97FD-2470ACD43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16" y="2878116"/>
            <a:ext cx="566976" cy="566976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DCC3C463-8208-F3AF-4DAB-8016F5ADE58B}"/>
              </a:ext>
            </a:extLst>
          </p:cNvPr>
          <p:cNvSpPr/>
          <p:nvPr/>
        </p:nvSpPr>
        <p:spPr>
          <a:xfrm>
            <a:off x="1069105" y="28384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Función Objetivo</a:t>
            </a:r>
            <a:endParaRPr lang="en-US" sz="2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601CAAFA-B803-07F4-A5B6-23557E3DC76F}"/>
              </a:ext>
            </a:extLst>
          </p:cNvPr>
          <p:cNvSpPr/>
          <p:nvPr/>
        </p:nvSpPr>
        <p:spPr>
          <a:xfrm>
            <a:off x="1069105" y="3328886"/>
            <a:ext cx="122490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 que se quiere optimizar.</a:t>
            </a:r>
            <a:endParaRPr lang="en-US" sz="175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F1B250D0-E79B-D1A1-ADE6-F9A319FC8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16" y="4411879"/>
            <a:ext cx="566976" cy="566976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52FEE7F2-B16F-2ED2-AE1B-B9EF08D560C7}"/>
              </a:ext>
            </a:extLst>
          </p:cNvPr>
          <p:cNvSpPr/>
          <p:nvPr/>
        </p:nvSpPr>
        <p:spPr>
          <a:xfrm>
            <a:off x="1069105" y="4372231"/>
            <a:ext cx="30978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Factor de Mutación (F)</a:t>
            </a:r>
            <a:endParaRPr lang="en-US" sz="22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627979A5-E6EF-7401-05C6-397FC8D8B61D}"/>
              </a:ext>
            </a:extLst>
          </p:cNvPr>
          <p:cNvSpPr/>
          <p:nvPr/>
        </p:nvSpPr>
        <p:spPr>
          <a:xfrm>
            <a:off x="1069105" y="4862649"/>
            <a:ext cx="122490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Controla cuánto se modifica una solución.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763240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C72A546-5E63-9E6F-1A2F-BC1A2BA692F4}"/>
              </a:ext>
            </a:extLst>
          </p:cNvPr>
          <p:cNvSpPr/>
          <p:nvPr/>
        </p:nvSpPr>
        <p:spPr>
          <a:xfrm>
            <a:off x="322449" y="1134222"/>
            <a:ext cx="38536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Aplicaciones en IA</a:t>
            </a:r>
            <a:endParaRPr lang="en-US" sz="445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3BA1C317-937D-10F2-A0C3-4F51C55E0D05}"/>
              </a:ext>
            </a:extLst>
          </p:cNvPr>
          <p:cNvSpPr/>
          <p:nvPr/>
        </p:nvSpPr>
        <p:spPr>
          <a:xfrm>
            <a:off x="322449" y="2296629"/>
            <a:ext cx="4354839" cy="807958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E97C4AB-FF0C-1306-0478-4FF7E9A9A9C1}"/>
              </a:ext>
            </a:extLst>
          </p:cNvPr>
          <p:cNvSpPr/>
          <p:nvPr/>
        </p:nvSpPr>
        <p:spPr>
          <a:xfrm>
            <a:off x="549263" y="2523443"/>
            <a:ext cx="22776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Entrenamiento de Redes</a:t>
            </a:r>
            <a:endParaRPr lang="en-US" sz="22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F8D63AF6-16EF-A522-52CB-597CA98B4281}"/>
              </a:ext>
            </a:extLst>
          </p:cNvPr>
          <p:cNvSpPr/>
          <p:nvPr/>
        </p:nvSpPr>
        <p:spPr>
          <a:xfrm>
            <a:off x="6957326" y="2296629"/>
            <a:ext cx="4354839" cy="807958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B38EB96-240A-D9AA-934B-42014D29B6E2}"/>
              </a:ext>
            </a:extLst>
          </p:cNvPr>
          <p:cNvSpPr/>
          <p:nvPr/>
        </p:nvSpPr>
        <p:spPr>
          <a:xfrm>
            <a:off x="7184140" y="2523443"/>
            <a:ext cx="31523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Optimización de Hiperparámetros</a:t>
            </a:r>
            <a:endParaRPr lang="en-US" sz="22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F34CF622-FC7E-9353-9AB8-2F8872106DAC}"/>
              </a:ext>
            </a:extLst>
          </p:cNvPr>
          <p:cNvSpPr/>
          <p:nvPr/>
        </p:nvSpPr>
        <p:spPr>
          <a:xfrm>
            <a:off x="322449" y="3331401"/>
            <a:ext cx="4354839" cy="807958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9E20B35-61AF-5648-449C-DF47CF44932B}"/>
              </a:ext>
            </a:extLst>
          </p:cNvPr>
          <p:cNvSpPr/>
          <p:nvPr/>
        </p:nvSpPr>
        <p:spPr>
          <a:xfrm>
            <a:off x="549264" y="3558215"/>
            <a:ext cx="19267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Robótica</a:t>
            </a:r>
            <a:endParaRPr lang="en-US" sz="22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6AEABAE1-3CCC-8B99-6D77-34207C5C6ED8}"/>
              </a:ext>
            </a:extLst>
          </p:cNvPr>
          <p:cNvSpPr/>
          <p:nvPr/>
        </p:nvSpPr>
        <p:spPr>
          <a:xfrm>
            <a:off x="6957326" y="3331401"/>
            <a:ext cx="4354839" cy="807958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B9AF156-1857-A2BF-27C5-FC4B1C75C684}"/>
              </a:ext>
            </a:extLst>
          </p:cNvPr>
          <p:cNvSpPr/>
          <p:nvPr/>
        </p:nvSpPr>
        <p:spPr>
          <a:xfrm>
            <a:off x="7184141" y="3558215"/>
            <a:ext cx="19267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Ajuste de Modelos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746162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5F2756CF-8FA1-6AE8-DAC6-AEE11E1EC540}"/>
              </a:ext>
            </a:extLst>
          </p:cNvPr>
          <p:cNvSpPr/>
          <p:nvPr/>
        </p:nvSpPr>
        <p:spPr>
          <a:xfrm>
            <a:off x="395601" y="503286"/>
            <a:ext cx="38536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419111C-B563-2EE1-F1CC-D5FE73D9B4D5}"/>
              </a:ext>
            </a:extLst>
          </p:cNvPr>
          <p:cNvSpPr txBox="1"/>
          <p:nvPr/>
        </p:nvSpPr>
        <p:spPr>
          <a:xfrm>
            <a:off x="395601" y="1558212"/>
            <a:ext cx="108197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La evolución diferencial nos muestra cómo ideas simples inspiradas en la naturaleza pueden ayudar a resolver problemas complejos en inteligencia artificial. No siempre se necesita algo complicado para lograr buenos resultados; a veces, combinar y probar de forma inteligente puede ser suficiente. Este tipo de algoritmos nos recuerda que, con paciencia y pequeñas mejoras, es posible acercarse cada vez más a una solución óptima. Es una herramienta valiosa que sigue demostrando su utilidad en el desarrollo de tecnologías más inteligentes y eficientes.</a:t>
            </a:r>
          </a:p>
        </p:txBody>
      </p:sp>
      <p:pic>
        <p:nvPicPr>
          <p:cNvPr id="1032" name="Picture 8" descr="Evolución Diferencial-Dr. Darío Cuervo">
            <a:extLst>
              <a:ext uri="{FF2B5EF4-FFF2-40B4-BE49-F238E27FC236}">
                <a16:creationId xmlns:a16="http://schemas.microsoft.com/office/drawing/2014/main" id="{56465E34-8662-58BB-AB99-37D6224C4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192" y="3429000"/>
            <a:ext cx="5402424" cy="303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7385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301</Words>
  <Application>Microsoft Office PowerPoint</Application>
  <PresentationFormat>Panorámica</PresentationFormat>
  <Paragraphs>31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DM Sans Semi Bold</vt:lpstr>
      <vt:lpstr>Inter Medium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ANTONIO RAFAEL PATRON</dc:creator>
  <cp:lastModifiedBy>MARCO ANTONIO RAFAEL PATRON</cp:lastModifiedBy>
  <cp:revision>1</cp:revision>
  <dcterms:created xsi:type="dcterms:W3CDTF">2025-04-06T06:37:38Z</dcterms:created>
  <dcterms:modified xsi:type="dcterms:W3CDTF">2025-04-06T06:50:39Z</dcterms:modified>
</cp:coreProperties>
</file>