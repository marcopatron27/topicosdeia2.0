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Heebo" pitchFamily="2" charset="-79"/>
      <p:regular r:id="rId11"/>
      <p:bold r:id="rId12"/>
    </p:embeddedFont>
    <p:embeddedFont>
      <p:font typeface="MuseoModerno Medium" panose="020B0604020202020204" charset="0"/>
      <p:regular r:id="rId13"/>
    </p:embeddedFont>
    <p:embeddedFont>
      <p:font typeface="Source Sans Pro" panose="020B0503030403020204" pitchFamily="34" charset="0"/>
      <p:regular r:id="rId14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00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965EBEA-3B16-DC05-CB08-304E2A58B690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 0"/>
          <p:cNvSpPr/>
          <p:nvPr/>
        </p:nvSpPr>
        <p:spPr>
          <a:xfrm>
            <a:off x="6280190" y="18920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Problema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de las 8 Reinas con </a:t>
            </a: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Recocido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Simulado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53565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588415" y="43832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-RAFAEL PATRON MARCO ANTONIO</a:t>
            </a:r>
            <a:endParaRPr lang="en-US" sz="175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E19224-8E6D-E157-F4C2-D404B5768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498180A-0F0E-3DB0-43A3-3DCE1C888836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0C743CAB-6ABD-FA3A-D93E-3C1ED1CAB19A}"/>
              </a:ext>
            </a:extLst>
          </p:cNvPr>
          <p:cNvSpPr/>
          <p:nvPr/>
        </p:nvSpPr>
        <p:spPr>
          <a:xfrm>
            <a:off x="753427" y="3312557"/>
            <a:ext cx="6140887" cy="639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Descripción del Problema</a:t>
            </a:r>
            <a:endParaRPr lang="en-US" sz="40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A3BFC685-DC79-F97C-CC27-3963B8F673BD}"/>
              </a:ext>
            </a:extLst>
          </p:cNvPr>
          <p:cNvSpPr/>
          <p:nvPr/>
        </p:nvSpPr>
        <p:spPr>
          <a:xfrm>
            <a:off x="753427" y="4258270"/>
            <a:ext cx="6459617" cy="150530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1654E26-5F87-3D73-5687-CBD6F72C5B37}"/>
              </a:ext>
            </a:extLst>
          </p:cNvPr>
          <p:cNvSpPr/>
          <p:nvPr/>
        </p:nvSpPr>
        <p:spPr>
          <a:xfrm>
            <a:off x="957858" y="4462701"/>
            <a:ext cx="255627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Objetivo</a:t>
            </a:r>
            <a:endParaRPr lang="en-US" sz="20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F7FDA7F0-A456-A7BB-AC99-67403D6C1F97}"/>
              </a:ext>
            </a:extLst>
          </p:cNvPr>
          <p:cNvSpPr/>
          <p:nvPr/>
        </p:nvSpPr>
        <p:spPr>
          <a:xfrm>
            <a:off x="957858" y="4904780"/>
            <a:ext cx="6050756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problema de las 8 reinas consiste en colocar ocho reinas en un tablero de ajedrez de 8x8 sin que ninguna se amenace entre sí.</a:t>
            </a:r>
            <a:endParaRPr lang="en-US" sz="16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41B168FD-5716-F929-742D-A879EF6B5062}"/>
              </a:ext>
            </a:extLst>
          </p:cNvPr>
          <p:cNvSpPr/>
          <p:nvPr/>
        </p:nvSpPr>
        <p:spPr>
          <a:xfrm>
            <a:off x="7417475" y="4258270"/>
            <a:ext cx="6459617" cy="150530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5B82843-E061-8CF7-4FCD-7A757BE5E5BF}"/>
              </a:ext>
            </a:extLst>
          </p:cNvPr>
          <p:cNvSpPr/>
          <p:nvPr/>
        </p:nvSpPr>
        <p:spPr>
          <a:xfrm>
            <a:off x="7621905" y="4462701"/>
            <a:ext cx="255627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Restricciones</a:t>
            </a:r>
            <a:endParaRPr lang="en-US" sz="20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746C296-A921-2081-607B-211A408D4CD8}"/>
              </a:ext>
            </a:extLst>
          </p:cNvPr>
          <p:cNvSpPr/>
          <p:nvPr/>
        </p:nvSpPr>
        <p:spPr>
          <a:xfrm>
            <a:off x="7621905" y="4904780"/>
            <a:ext cx="6050756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Esto significa que no pueden compartir la misma fila, columna o diagonal.</a:t>
            </a:r>
            <a:endParaRPr lang="en-US" sz="16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D35325C-0613-EDBC-B8A1-D1E485B4EF62}"/>
              </a:ext>
            </a:extLst>
          </p:cNvPr>
          <p:cNvSpPr/>
          <p:nvPr/>
        </p:nvSpPr>
        <p:spPr>
          <a:xfrm>
            <a:off x="753427" y="5968008"/>
            <a:ext cx="6459617" cy="150530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AF2FD78B-9B14-BF83-9E18-F3D0CEAD5F03}"/>
              </a:ext>
            </a:extLst>
          </p:cNvPr>
          <p:cNvSpPr/>
          <p:nvPr/>
        </p:nvSpPr>
        <p:spPr>
          <a:xfrm>
            <a:off x="957858" y="6172438"/>
            <a:ext cx="255627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Complejidad</a:t>
            </a:r>
            <a:endParaRPr lang="en-US" sz="20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53FBD59-5464-EDA8-17EE-22257476744C}"/>
              </a:ext>
            </a:extLst>
          </p:cNvPr>
          <p:cNvSpPr/>
          <p:nvPr/>
        </p:nvSpPr>
        <p:spPr>
          <a:xfrm>
            <a:off x="957858" y="6614517"/>
            <a:ext cx="6050756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Dado el gran número de combinaciones posibles, encontrar una solución óptima requiere técnicas avanzadas.</a:t>
            </a:r>
            <a:endParaRPr lang="en-US" sz="16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0F10722D-583B-FD8D-7E66-33BCCF39394C}"/>
              </a:ext>
            </a:extLst>
          </p:cNvPr>
          <p:cNvSpPr/>
          <p:nvPr/>
        </p:nvSpPr>
        <p:spPr>
          <a:xfrm>
            <a:off x="7417475" y="5968008"/>
            <a:ext cx="6459617" cy="150530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0741CA2-8B7C-AADE-066C-A247D42CE542}"/>
              </a:ext>
            </a:extLst>
          </p:cNvPr>
          <p:cNvSpPr/>
          <p:nvPr/>
        </p:nvSpPr>
        <p:spPr>
          <a:xfrm>
            <a:off x="7621905" y="6172438"/>
            <a:ext cx="255627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Solución</a:t>
            </a:r>
            <a:endParaRPr lang="en-US" sz="20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2054DBA5-63B5-95C2-FBC1-8EB58DB2DF23}"/>
              </a:ext>
            </a:extLst>
          </p:cNvPr>
          <p:cNvSpPr/>
          <p:nvPr/>
        </p:nvSpPr>
        <p:spPr>
          <a:xfrm>
            <a:off x="7621905" y="6614517"/>
            <a:ext cx="6050756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de estas técnicas es el recocido simulado, que permite explorar soluciones sin necesidad de evaluar todas las configuraciones posibles.</a:t>
            </a:r>
            <a:endParaRPr lang="en-US" sz="16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77B6AD24-6D87-DCBC-CA43-BFDD92007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62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FE6CB32-A5A7-EC34-D357-7604916CE0CF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1213BF53-05AE-8792-2790-09A0EFA13969}"/>
              </a:ext>
            </a:extLst>
          </p:cNvPr>
          <p:cNvSpPr/>
          <p:nvPr/>
        </p:nvSpPr>
        <p:spPr>
          <a:xfrm>
            <a:off x="6267212" y="614005"/>
            <a:ext cx="7582376" cy="132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Algoritmo de Recocido Simulado (SA)</a:t>
            </a:r>
            <a:endParaRPr lang="en-US" sz="415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B33041BB-0E93-94A4-F0C6-C2DB164D1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212" y="2256353"/>
            <a:ext cx="1059656" cy="1899404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6413EA90-422E-F193-4FB7-3E4373036C0B}"/>
              </a:ext>
            </a:extLst>
          </p:cNvPr>
          <p:cNvSpPr/>
          <p:nvPr/>
        </p:nvSpPr>
        <p:spPr>
          <a:xfrm>
            <a:off x="7644765" y="2468285"/>
            <a:ext cx="2649379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Inspiración física</a:t>
            </a:r>
            <a:endParaRPr lang="en-US" sz="205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B3819812-BEB9-E451-48A5-98551C01AEF8}"/>
              </a:ext>
            </a:extLst>
          </p:cNvPr>
          <p:cNvSpPr/>
          <p:nvPr/>
        </p:nvSpPr>
        <p:spPr>
          <a:xfrm>
            <a:off x="7644765" y="2926556"/>
            <a:ext cx="6204823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recocido simulado se basa en el proceso físico de enfriamiento de metales, donde un material caliente se enfría gradualmente para alcanzar un estado más estable.</a:t>
            </a:r>
            <a:endParaRPr lang="en-US" sz="1650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65A10F95-47CB-2BD0-1E8E-ECAF749E5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212" y="4155757"/>
            <a:ext cx="1059656" cy="1899404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F60E9548-B905-678C-DAE7-C35BC101D550}"/>
              </a:ext>
            </a:extLst>
          </p:cNvPr>
          <p:cNvSpPr/>
          <p:nvPr/>
        </p:nvSpPr>
        <p:spPr>
          <a:xfrm>
            <a:off x="7644765" y="4367689"/>
            <a:ext cx="2700457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Exploración aleatoria</a:t>
            </a:r>
            <a:endParaRPr lang="en-US" sz="20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A2F8E890-86FF-AA6D-93A3-57EBE0D81539}"/>
              </a:ext>
            </a:extLst>
          </p:cNvPr>
          <p:cNvSpPr/>
          <p:nvPr/>
        </p:nvSpPr>
        <p:spPr>
          <a:xfrm>
            <a:off x="7644765" y="4825960"/>
            <a:ext cx="6204823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este algoritmo, se exploran soluciones de manera aleatoria, y a medida que la temperatura disminuye, la probabilidad de aceptar soluciones subóptimas también se reduce.</a:t>
            </a:r>
            <a:endParaRPr lang="en-US" sz="165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4368C4D2-04D0-9E0E-8EE7-D60265079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212" y="6055162"/>
            <a:ext cx="1059656" cy="1560314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1C858324-0C14-3CF5-DF26-27BD6450DFAE}"/>
              </a:ext>
            </a:extLst>
          </p:cNvPr>
          <p:cNvSpPr/>
          <p:nvPr/>
        </p:nvSpPr>
        <p:spPr>
          <a:xfrm>
            <a:off x="7644765" y="6267093"/>
            <a:ext cx="2809756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Evitar óptimos locales</a:t>
            </a:r>
            <a:endParaRPr lang="en-US" sz="205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994E0861-3691-5E18-636E-595134A60D2F}"/>
              </a:ext>
            </a:extLst>
          </p:cNvPr>
          <p:cNvSpPr/>
          <p:nvPr/>
        </p:nvSpPr>
        <p:spPr>
          <a:xfrm>
            <a:off x="7644765" y="6725364"/>
            <a:ext cx="6204823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Esto permite evitar quedar atrapado en óptimos locales y encontrar soluciones más cercanas al óptimo global.</a:t>
            </a:r>
            <a:endParaRPr lang="en-US" sz="165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FA51FF3A-1990-C4DB-832F-22F96B729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739EBAB-8468-B9D8-8B23-3838F5BEC16C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F9A96A65-EE93-4D53-4468-61FCCDB4DDC4}"/>
              </a:ext>
            </a:extLst>
          </p:cNvPr>
          <p:cNvSpPr/>
          <p:nvPr/>
        </p:nvSpPr>
        <p:spPr>
          <a:xfrm>
            <a:off x="793790" y="2177058"/>
            <a:ext cx="79949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Representación del Problema</a:t>
            </a:r>
            <a:endParaRPr lang="en-US" sz="445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368C7FA5-9F9F-1069-C97D-479F8F64D5DA}"/>
              </a:ext>
            </a:extLst>
          </p:cNvPr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Estructura de datos</a:t>
            </a:r>
            <a:endParaRPr lang="en-US" sz="22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3DCF882-DA25-881E-6D2A-CA204D65E68E}"/>
              </a:ext>
            </a:extLst>
          </p:cNvPr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usa un arreglo de 8 elementos para representar el tablero, donde cada índice corresponde a una columna y su valor indica la fila en la que se encuentra la reina.</a:t>
            </a:r>
            <a:endParaRPr lang="en-US" sz="175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8DE2CE3-0727-AEF5-0174-45ACCBBFA8A4}"/>
              </a:ext>
            </a:extLst>
          </p:cNvPr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Ejemplo</a:t>
            </a:r>
            <a:endParaRPr lang="en-US" sz="22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8F2EA14-6CE4-AA79-2DB4-59B631437CFA}"/>
              </a:ext>
            </a:extLst>
          </p:cNvPr>
          <p:cNvSpPr/>
          <p:nvPr/>
        </p:nvSpPr>
        <p:spPr>
          <a:xfrm>
            <a:off x="5332928" y="4033957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Por ejemplo, el estado [0, 4, 7, 5, 2, 6, 1, 3] indica las posiciones de las reinas en el tablero.</a:t>
            </a:r>
            <a:endParaRPr lang="en-US" sz="175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230284D-E741-D3A6-7639-59544DB6E507}"/>
              </a:ext>
            </a:extLst>
          </p:cNvPr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Ventajas</a:t>
            </a:r>
            <a:endParaRPr lang="en-US" sz="22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945CFB46-C9D0-9598-502F-D3A224AF76E8}"/>
              </a:ext>
            </a:extLst>
          </p:cNvPr>
          <p:cNvSpPr/>
          <p:nvPr/>
        </p:nvSpPr>
        <p:spPr>
          <a:xfrm>
            <a:off x="9872067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 representación facilita la evaluación de conflictos y la generación de estados vecinos al mover una reina de fila dentro de su columna.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C311905-5A43-9D35-2855-8A43B0209A4D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116A6BDE-8867-337E-77CB-471A2C8F5837}"/>
              </a:ext>
            </a:extLst>
          </p:cNvPr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Función de Costo</a:t>
            </a:r>
            <a:endParaRPr lang="en-US" sz="44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F520CEE-ED6F-96B6-55D9-05DBF38A0EBA}"/>
              </a:ext>
            </a:extLst>
          </p:cNvPr>
          <p:cNvSpPr/>
          <p:nvPr/>
        </p:nvSpPr>
        <p:spPr>
          <a:xfrm>
            <a:off x="1554599" y="3906441"/>
            <a:ext cx="30244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Medición de conflictos</a:t>
            </a:r>
            <a:endParaRPr lang="en-US" sz="22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65F94E7B-C0FE-2057-5185-910B07476413}"/>
              </a:ext>
            </a:extLst>
          </p:cNvPr>
          <p:cNvSpPr/>
          <p:nvPr/>
        </p:nvSpPr>
        <p:spPr>
          <a:xfrm>
            <a:off x="793790" y="4396859"/>
            <a:ext cx="378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función de costo mide cuántas reinas están en conflicto, es decir, cuántas pueden atacarse entre sí.</a:t>
            </a:r>
            <a:endParaRPr lang="en-US" sz="175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425B7ABC-1DC2-C6DB-A307-C2EA11454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6B70CEE1-192E-2AD4-0BF9-949DA73E1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411" y="4209098"/>
            <a:ext cx="339328" cy="424220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D6BE908E-83D3-B377-ED97-378E5337CAA2}"/>
              </a:ext>
            </a:extLst>
          </p:cNvPr>
          <p:cNvSpPr/>
          <p:nvPr/>
        </p:nvSpPr>
        <p:spPr>
          <a:xfrm>
            <a:off x="9937790" y="2680097"/>
            <a:ext cx="34157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Evaluación de amenazas</a:t>
            </a:r>
            <a:endParaRPr lang="en-US" sz="22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AFF074D-B939-245D-046F-917CBCD7A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21FB45A3-79F5-C88C-6E3A-14EEA7901C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307" y="3258026"/>
            <a:ext cx="339328" cy="424220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1CBB602E-7448-71B9-B207-B7E8E42F99AA}"/>
              </a:ext>
            </a:extLst>
          </p:cNvPr>
          <p:cNvSpPr/>
          <p:nvPr/>
        </p:nvSpPr>
        <p:spPr>
          <a:xfrm>
            <a:off x="9937790" y="4769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Objetivo</a:t>
            </a:r>
            <a:endParaRPr lang="en-US" sz="2200" dirty="0"/>
          </a:p>
        </p:txBody>
      </p:sp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532646A8-BA31-C623-FB53-14E5E7ECA0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3" name="Image 5" descr="preencoded.png">
            <a:extLst>
              <a:ext uri="{FF2B5EF4-FFF2-40B4-BE49-F238E27FC236}">
                <a16:creationId xmlns:a16="http://schemas.microsoft.com/office/drawing/2014/main" id="{DAFF54AE-00D3-4225-B5E0-7E928107DB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4533" y="5984200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8552F558-5D54-E3F6-A7E3-9AB381C96F21}"/>
              </a:ext>
            </a:extLst>
          </p:cNvPr>
          <p:cNvSpPr/>
          <p:nvPr/>
        </p:nvSpPr>
        <p:spPr>
          <a:xfrm>
            <a:off x="21431" y="0"/>
            <a:ext cx="14630400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569" y="0"/>
            <a:ext cx="5486400" cy="822960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A322A281-6FE1-6855-70F1-2FD8E091F50E}"/>
              </a:ext>
            </a:extLst>
          </p:cNvPr>
          <p:cNvSpPr/>
          <p:nvPr/>
        </p:nvSpPr>
        <p:spPr>
          <a:xfrm>
            <a:off x="793790" y="656868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Pasos del Algoritmo</a:t>
            </a:r>
            <a:endParaRPr lang="en-US" sz="33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3EBCAB78-2219-9360-A350-908DA59101B1}"/>
              </a:ext>
            </a:extLst>
          </p:cNvPr>
          <p:cNvSpPr/>
          <p:nvPr/>
        </p:nvSpPr>
        <p:spPr>
          <a:xfrm>
            <a:off x="793790" y="1528643"/>
            <a:ext cx="127516" cy="639961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7AFA235E-9640-7DE5-8D2F-06EF891710AE}"/>
              </a:ext>
            </a:extLst>
          </p:cNvPr>
          <p:cNvSpPr/>
          <p:nvPr/>
        </p:nvSpPr>
        <p:spPr>
          <a:xfrm>
            <a:off x="1176457" y="152864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Inicialización</a:t>
            </a:r>
            <a:endParaRPr lang="en-US" sz="165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5781CF51-9474-3810-C194-433F48C2CA0A}"/>
              </a:ext>
            </a:extLst>
          </p:cNvPr>
          <p:cNvSpPr/>
          <p:nvPr/>
        </p:nvSpPr>
        <p:spPr>
          <a:xfrm>
            <a:off x="1176457" y="1896428"/>
            <a:ext cx="1266015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genera un estado inicial aleatorio.</a:t>
            </a:r>
            <a:endParaRPr lang="en-US" sz="130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CD683188-FEF4-3387-DDDF-228EEAD7831D}"/>
              </a:ext>
            </a:extLst>
          </p:cNvPr>
          <p:cNvSpPr/>
          <p:nvPr/>
        </p:nvSpPr>
        <p:spPr>
          <a:xfrm>
            <a:off x="1048941" y="2338626"/>
            <a:ext cx="127516" cy="639961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D0152DAB-6D5D-C7BB-C177-88290F40CADE}"/>
              </a:ext>
            </a:extLst>
          </p:cNvPr>
          <p:cNvSpPr/>
          <p:nvPr/>
        </p:nvSpPr>
        <p:spPr>
          <a:xfrm>
            <a:off x="1431608" y="233862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Temperatura Inicial</a:t>
            </a:r>
            <a:endParaRPr lang="en-US" sz="165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1CF674E-F19E-AD87-10E3-7C94677567C9}"/>
              </a:ext>
            </a:extLst>
          </p:cNvPr>
          <p:cNvSpPr/>
          <p:nvPr/>
        </p:nvSpPr>
        <p:spPr>
          <a:xfrm>
            <a:off x="1431608" y="2706410"/>
            <a:ext cx="124050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define un valor alto que disminuye con el tiempo.</a:t>
            </a:r>
            <a:endParaRPr lang="en-US" sz="13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764290AD-6ABD-6BAB-6C22-4D2866CF51BE}"/>
              </a:ext>
            </a:extLst>
          </p:cNvPr>
          <p:cNvSpPr/>
          <p:nvPr/>
        </p:nvSpPr>
        <p:spPr>
          <a:xfrm>
            <a:off x="1304092" y="3148608"/>
            <a:ext cx="127516" cy="639961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CB63C03-4F0F-68E3-3511-4310F09F126A}"/>
              </a:ext>
            </a:extLst>
          </p:cNvPr>
          <p:cNvSpPr/>
          <p:nvPr/>
        </p:nvSpPr>
        <p:spPr>
          <a:xfrm>
            <a:off x="1686758" y="3148608"/>
            <a:ext cx="21952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Generación de Vecino</a:t>
            </a:r>
            <a:endParaRPr lang="en-US" sz="165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A59EE034-17C6-AA5E-C2F8-B3573409FC6B}"/>
              </a:ext>
            </a:extLst>
          </p:cNvPr>
          <p:cNvSpPr/>
          <p:nvPr/>
        </p:nvSpPr>
        <p:spPr>
          <a:xfrm>
            <a:off x="1686758" y="3516392"/>
            <a:ext cx="1214985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selecciona una reina y se mueve de fila.</a:t>
            </a:r>
            <a:endParaRPr lang="en-US" sz="13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50EF4951-BCB6-3695-33E8-A68E8476C7D3}"/>
              </a:ext>
            </a:extLst>
          </p:cNvPr>
          <p:cNvSpPr/>
          <p:nvPr/>
        </p:nvSpPr>
        <p:spPr>
          <a:xfrm>
            <a:off x="1559243" y="3958590"/>
            <a:ext cx="127516" cy="639961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0AF7DFF0-10C4-4EEB-3918-E649D8EE5CCA}"/>
              </a:ext>
            </a:extLst>
          </p:cNvPr>
          <p:cNvSpPr/>
          <p:nvPr/>
        </p:nvSpPr>
        <p:spPr>
          <a:xfrm>
            <a:off x="1941909" y="395859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Evaluación del Costo</a:t>
            </a:r>
            <a:endParaRPr lang="en-US" sz="165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B4DA5D81-7A13-47D5-BFC2-4D8B34E05D88}"/>
              </a:ext>
            </a:extLst>
          </p:cNvPr>
          <p:cNvSpPr/>
          <p:nvPr/>
        </p:nvSpPr>
        <p:spPr>
          <a:xfrm>
            <a:off x="1941909" y="4326374"/>
            <a:ext cx="1189470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compara el nuevo estado con el actual.</a:t>
            </a:r>
            <a:endParaRPr lang="en-US" sz="13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47AAAC9B-3EC5-F2D4-1FC8-8B42DABA96A8}"/>
              </a:ext>
            </a:extLst>
          </p:cNvPr>
          <p:cNvSpPr/>
          <p:nvPr/>
        </p:nvSpPr>
        <p:spPr>
          <a:xfrm>
            <a:off x="1304092" y="4768572"/>
            <a:ext cx="127516" cy="1014174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E41351A5-6CBC-0AD7-4E36-5D947C013CD2}"/>
              </a:ext>
            </a:extLst>
          </p:cNvPr>
          <p:cNvSpPr/>
          <p:nvPr/>
        </p:nvSpPr>
        <p:spPr>
          <a:xfrm>
            <a:off x="1686758" y="4768572"/>
            <a:ext cx="217932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Criterio de Aceptación</a:t>
            </a:r>
            <a:endParaRPr lang="en-US" sz="165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F785FBEE-8594-4309-E5B5-91D26977D83B}"/>
              </a:ext>
            </a:extLst>
          </p:cNvPr>
          <p:cNvSpPr/>
          <p:nvPr/>
        </p:nvSpPr>
        <p:spPr>
          <a:xfrm>
            <a:off x="1686758" y="5136356"/>
            <a:ext cx="1214985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- Si el nuevo estado es mejor, se acepta.</a:t>
            </a:r>
            <a:endParaRPr lang="en-US" sz="13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BC6EEA7F-C54D-CFB1-C484-788B05F82D3D}"/>
              </a:ext>
            </a:extLst>
          </p:cNvPr>
          <p:cNvSpPr/>
          <p:nvPr/>
        </p:nvSpPr>
        <p:spPr>
          <a:xfrm>
            <a:off x="1686758" y="5510570"/>
            <a:ext cx="1214985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- Si es peor, se puede aceptar con cierta probabilidad.</a:t>
            </a:r>
            <a:endParaRPr lang="en-US" sz="130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D2097619-224A-99CA-C69E-39E38DE082AF}"/>
              </a:ext>
            </a:extLst>
          </p:cNvPr>
          <p:cNvSpPr/>
          <p:nvPr/>
        </p:nvSpPr>
        <p:spPr>
          <a:xfrm>
            <a:off x="1048941" y="5952768"/>
            <a:ext cx="127516" cy="639961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378CA172-E31A-C39F-D1FB-E63B80FAD820}"/>
              </a:ext>
            </a:extLst>
          </p:cNvPr>
          <p:cNvSpPr/>
          <p:nvPr/>
        </p:nvSpPr>
        <p:spPr>
          <a:xfrm>
            <a:off x="1431608" y="595276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Enfriamiento</a:t>
            </a:r>
            <a:endParaRPr lang="en-US" sz="165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82CA7983-A4B0-82B5-3B62-4D26AC157370}"/>
              </a:ext>
            </a:extLst>
          </p:cNvPr>
          <p:cNvSpPr/>
          <p:nvPr/>
        </p:nvSpPr>
        <p:spPr>
          <a:xfrm>
            <a:off x="1431608" y="6320552"/>
            <a:ext cx="124050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temperatura disminuye progresivamente.</a:t>
            </a:r>
            <a:endParaRPr lang="en-US" sz="130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127FC035-EBE7-4D66-A5CD-78F44532D4F0}"/>
              </a:ext>
            </a:extLst>
          </p:cNvPr>
          <p:cNvSpPr/>
          <p:nvPr/>
        </p:nvSpPr>
        <p:spPr>
          <a:xfrm>
            <a:off x="793790" y="6762750"/>
            <a:ext cx="127516" cy="639961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F81AED17-7658-409C-59F5-B68F3CE351C8}"/>
              </a:ext>
            </a:extLst>
          </p:cNvPr>
          <p:cNvSpPr/>
          <p:nvPr/>
        </p:nvSpPr>
        <p:spPr>
          <a:xfrm>
            <a:off x="1176457" y="676275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Criterio de Paro</a:t>
            </a:r>
            <a:endParaRPr lang="en-US" sz="1650" dirty="0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4CBED137-44BB-B363-4C41-D2FDD110EF31}"/>
              </a:ext>
            </a:extLst>
          </p:cNvPr>
          <p:cNvSpPr/>
          <p:nvPr/>
        </p:nvSpPr>
        <p:spPr>
          <a:xfrm>
            <a:off x="1176457" y="7130534"/>
            <a:ext cx="1266015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detiene cuando se encuentra una solución óptima o la temperatura es demasiado baja.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75C73DE-009D-DF74-7DCC-67B74BC94CDA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C2B2500-1567-FE6E-6E20-FD4B0DB818AF}"/>
              </a:ext>
            </a:extLst>
          </p:cNvPr>
          <p:cNvSpPr/>
          <p:nvPr/>
        </p:nvSpPr>
        <p:spPr>
          <a:xfrm>
            <a:off x="793790" y="3550682"/>
            <a:ext cx="87269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Ventajas del Recocido Simulado</a:t>
            </a:r>
            <a:endParaRPr lang="en-US" sz="445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90CBB079-43EF-C18C-6F4E-FA06CDD59419}"/>
              </a:ext>
            </a:extLst>
          </p:cNvPr>
          <p:cNvSpPr/>
          <p:nvPr/>
        </p:nvSpPr>
        <p:spPr>
          <a:xfrm>
            <a:off x="793790" y="48547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6CBD510-9477-BBA8-0ECA-CA337062A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4897279"/>
            <a:ext cx="340162" cy="425291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C954DAB3-BC5F-EB84-C659-35BBD0AF114A}"/>
              </a:ext>
            </a:extLst>
          </p:cNvPr>
          <p:cNvSpPr/>
          <p:nvPr/>
        </p:nvSpPr>
        <p:spPr>
          <a:xfrm>
            <a:off x="1530906" y="4854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Eficiencia</a:t>
            </a:r>
            <a:endParaRPr lang="en-US" sz="22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FE07B85-DF69-3023-388F-9E73C1B20190}"/>
              </a:ext>
            </a:extLst>
          </p:cNvPr>
          <p:cNvSpPr/>
          <p:nvPr/>
        </p:nvSpPr>
        <p:spPr>
          <a:xfrm>
            <a:off x="1530906" y="5345192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recocido simulado es eficiente porque permite explorar soluciones sin necesidad de evaluar todas las combinaciones posibles.</a:t>
            </a:r>
            <a:endParaRPr lang="en-US" sz="175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269AD1E-8337-1254-FEE8-ACA4A8EE6D82}"/>
              </a:ext>
            </a:extLst>
          </p:cNvPr>
          <p:cNvSpPr/>
          <p:nvPr/>
        </p:nvSpPr>
        <p:spPr>
          <a:xfrm>
            <a:off x="5216962" y="48547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03C43AA1-D991-3C18-3B1E-592CC37E1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032" y="4897279"/>
            <a:ext cx="340162" cy="425291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91D4DA73-62EE-4DD8-7810-079C887052F1}"/>
              </a:ext>
            </a:extLst>
          </p:cNvPr>
          <p:cNvSpPr/>
          <p:nvPr/>
        </p:nvSpPr>
        <p:spPr>
          <a:xfrm>
            <a:off x="5954078" y="4854773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Escape de óptimos locales</a:t>
            </a:r>
            <a:endParaRPr lang="en-US" sz="2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7B070AF-AA2B-91E6-7B47-8738FF3DABDF}"/>
              </a:ext>
            </a:extLst>
          </p:cNvPr>
          <p:cNvSpPr/>
          <p:nvPr/>
        </p:nvSpPr>
        <p:spPr>
          <a:xfrm>
            <a:off x="5954078" y="5699522"/>
            <a:ext cx="34592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diferencia de métodos como la búsqueda exhaustiva, este algoritmo escapa de óptimos locales y encuentra soluciones de manera más efectiva.</a:t>
            </a:r>
            <a:endParaRPr lang="en-US" sz="17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B4281ACF-02E0-B687-9629-7FA110EA1556}"/>
              </a:ext>
            </a:extLst>
          </p:cNvPr>
          <p:cNvSpPr/>
          <p:nvPr/>
        </p:nvSpPr>
        <p:spPr>
          <a:xfrm>
            <a:off x="9640133" y="48547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3CAD3B7F-A36F-D76F-C76D-F1DEBDBC7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204" y="4897279"/>
            <a:ext cx="340162" cy="425291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7B8FA5ED-DE58-FBC3-AD43-63047A1A6B16}"/>
              </a:ext>
            </a:extLst>
          </p:cNvPr>
          <p:cNvSpPr/>
          <p:nvPr/>
        </p:nvSpPr>
        <p:spPr>
          <a:xfrm>
            <a:off x="10377249" y="4854773"/>
            <a:ext cx="30445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Enfoque probabilístico</a:t>
            </a:r>
            <a:endParaRPr lang="en-US" sz="22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8C5E2A68-8DE2-4BC7-2C0C-0EE0716D0432}"/>
              </a:ext>
            </a:extLst>
          </p:cNvPr>
          <p:cNvSpPr/>
          <p:nvPr/>
        </p:nvSpPr>
        <p:spPr>
          <a:xfrm>
            <a:off x="10377249" y="5345192"/>
            <a:ext cx="34592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Además, su enfoque probabilístico le permite probar soluciones que inicialmente podrían parecer peores pero que pueden conducir a un mejor resultado final.</a:t>
            </a:r>
            <a:endParaRPr lang="en-US" sz="175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6C391893-F5E1-28F1-B45D-A3A5956E6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BF039B2E-FA3A-0AAF-F908-AA68F0B97312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69498E48-BEB1-3BA4-F561-E30095E7C611}"/>
              </a:ext>
            </a:extLst>
          </p:cNvPr>
          <p:cNvSpPr/>
          <p:nvPr/>
        </p:nvSpPr>
        <p:spPr>
          <a:xfrm>
            <a:off x="791647" y="621983"/>
            <a:ext cx="5372219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Conclusión</a:t>
            </a:r>
            <a:endParaRPr lang="en-US" sz="42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1A35B19-4948-1CD1-77E7-D0CDC0DBB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920" y="1723192"/>
            <a:ext cx="2152769" cy="1925717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FCB04BCA-C2B7-F58A-E365-BA6D1EA6C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154" y="2753797"/>
            <a:ext cx="302181" cy="377666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033866EA-0732-764D-31BA-B5FE2EC61D36}"/>
              </a:ext>
            </a:extLst>
          </p:cNvPr>
          <p:cNvSpPr/>
          <p:nvPr/>
        </p:nvSpPr>
        <p:spPr>
          <a:xfrm>
            <a:off x="5344478" y="2281833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Efectividad</a:t>
            </a:r>
            <a:endParaRPr lang="en-US" sz="21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A185CEB-3317-8AE7-10B4-0D9AF8C81987}"/>
              </a:ext>
            </a:extLst>
          </p:cNvPr>
          <p:cNvSpPr/>
          <p:nvPr/>
        </p:nvSpPr>
        <p:spPr>
          <a:xfrm>
            <a:off x="5344478" y="2746415"/>
            <a:ext cx="7559159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recocido simulado es una técnica efectiva para resolver el problema de las 8 reinas</a:t>
            </a:r>
            <a:endParaRPr lang="en-US" sz="165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3DC161CD-6C4C-92FA-8C78-A3E62CC7F928}"/>
              </a:ext>
            </a:extLst>
          </p:cNvPr>
          <p:cNvSpPr/>
          <p:nvPr/>
        </p:nvSpPr>
        <p:spPr>
          <a:xfrm>
            <a:off x="5183386" y="3660458"/>
            <a:ext cx="8601670" cy="15240"/>
          </a:xfrm>
          <a:prstGeom prst="roundRect">
            <a:avLst>
              <a:gd name="adj" fmla="val 211505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721016B-CE13-95F0-70C6-A192CA123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0595" y="3702606"/>
            <a:ext cx="4305538" cy="1925717"/>
          </a:xfrm>
          <a:prstGeom prst="rect">
            <a:avLst/>
          </a:prstGeom>
        </p:spPr>
      </p:pic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696335A9-88FD-6C30-E6EA-A6AA86B8ED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2273" y="4476631"/>
            <a:ext cx="302181" cy="377666"/>
          </a:xfrm>
          <a:prstGeom prst="rect">
            <a:avLst/>
          </a:prstGeom>
        </p:spPr>
      </p:pic>
      <p:sp>
        <p:nvSpPr>
          <p:cNvPr id="21" name="Text 4">
            <a:extLst>
              <a:ext uri="{FF2B5EF4-FFF2-40B4-BE49-F238E27FC236}">
                <a16:creationId xmlns:a16="http://schemas.microsoft.com/office/drawing/2014/main" id="{8946C23F-3A2E-1083-BA9C-DB5B5DF1359B}"/>
              </a:ext>
            </a:extLst>
          </p:cNvPr>
          <p:cNvSpPr/>
          <p:nvPr/>
        </p:nvSpPr>
        <p:spPr>
          <a:xfrm>
            <a:off x="6420922" y="4261247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Eficiencia</a:t>
            </a:r>
            <a:endParaRPr lang="en-US" sz="21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FDBB58E-3B72-F3CC-6D65-7D0DFD474BDC}"/>
              </a:ext>
            </a:extLst>
          </p:cNvPr>
          <p:cNvSpPr/>
          <p:nvPr/>
        </p:nvSpPr>
        <p:spPr>
          <a:xfrm>
            <a:off x="6420922" y="4725829"/>
            <a:ext cx="628602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Permitiendo encontrar soluciones válidas de manera rápida y eficiente</a:t>
            </a:r>
            <a:endParaRPr lang="en-US" sz="165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DD492F84-3971-EC5F-BAC3-C4735CF1319F}"/>
              </a:ext>
            </a:extLst>
          </p:cNvPr>
          <p:cNvSpPr/>
          <p:nvPr/>
        </p:nvSpPr>
        <p:spPr>
          <a:xfrm>
            <a:off x="6259830" y="5639872"/>
            <a:ext cx="7525226" cy="15240"/>
          </a:xfrm>
          <a:prstGeom prst="roundRect">
            <a:avLst>
              <a:gd name="adj" fmla="val 211505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D4C7825E-71EE-20D7-5A44-A8ECFB8523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151" y="5682020"/>
            <a:ext cx="6458307" cy="1925717"/>
          </a:xfrm>
          <a:prstGeom prst="rect">
            <a:avLst/>
          </a:prstGeom>
        </p:spPr>
      </p:pic>
      <p:pic>
        <p:nvPicPr>
          <p:cNvPr id="25" name="Image 5" descr="preencoded.png">
            <a:extLst>
              <a:ext uri="{FF2B5EF4-FFF2-40B4-BE49-F238E27FC236}">
                <a16:creationId xmlns:a16="http://schemas.microsoft.com/office/drawing/2014/main" id="{F9C9AF10-4631-025A-0778-ABF6A9D392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2154" y="6456045"/>
            <a:ext cx="302181" cy="377666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D8D17172-2BA5-280C-2EB2-B394975C6F84}"/>
              </a:ext>
            </a:extLst>
          </p:cNvPr>
          <p:cNvSpPr/>
          <p:nvPr/>
        </p:nvSpPr>
        <p:spPr>
          <a:xfrm>
            <a:off x="7497247" y="5896808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Versatilidad</a:t>
            </a:r>
            <a:endParaRPr lang="en-US" sz="21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728F7131-DB30-FF9A-81BB-3B6775A4F737}"/>
              </a:ext>
            </a:extLst>
          </p:cNvPr>
          <p:cNvSpPr/>
          <p:nvPr/>
        </p:nvSpPr>
        <p:spPr>
          <a:xfrm>
            <a:off x="7497247" y="6361390"/>
            <a:ext cx="6126718" cy="103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 mecanismo de exploración basada en temperatura lo hace útil para una amplia gama de problemas de optimización en diferentes áreas de la computación e inteligencia artificial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551</Words>
  <Application>Microsoft Office PowerPoint</Application>
  <PresentationFormat>Personalizado</PresentationFormat>
  <Paragraphs>68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MuseoModerno Medium</vt:lpstr>
      <vt:lpstr>Arial</vt:lpstr>
      <vt:lpstr>Heebo</vt:lpstr>
      <vt:lpstr>Source Sans Pro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MARCO ANTONIO RAFAEL PATRON</cp:lastModifiedBy>
  <cp:revision>5</cp:revision>
  <dcterms:created xsi:type="dcterms:W3CDTF">2025-03-08T04:16:24Z</dcterms:created>
  <dcterms:modified xsi:type="dcterms:W3CDTF">2025-03-26T06:03:45Z</dcterms:modified>
</cp:coreProperties>
</file>